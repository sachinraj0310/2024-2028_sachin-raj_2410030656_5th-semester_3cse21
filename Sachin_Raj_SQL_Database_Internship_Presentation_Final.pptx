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6" r:id="rId17"/>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02920"/>
            <a:ext cx="1051560" cy="105156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94944"/>
            <a:ext cx="914400" cy="640080"/>
          </a:xfrm>
          <a:prstGeom prst="rect">
            <a:avLst/>
          </a:prstGeom>
          <a:noFill/>
        </p:spPr>
        <p:txBody>
          <a:bodyPr wrap="none">
            <a:spAutoFit/>
          </a:bodyPr>
          <a:lstStyle/>
          <a:p>
            <a:pPr algn="ctr">
              <a:defRPr sz="2200" b="1">
                <a:latin typeface="Arial"/>
              </a:defRPr>
            </a:pPr>
            <a:r>
              <a:t>IILM</a:t>
            </a:r>
          </a:p>
          <a:p>
            <a:pPr algn="ctr">
              <a:defRPr sz="700">
                <a:latin typeface="Arial"/>
              </a:defRPr>
            </a:pPr>
            <a:r>
              <a:t>UNIVERSITY</a:t>
            </a:r>
          </a:p>
        </p:txBody>
      </p:sp>
      <p:sp>
        <p:nvSpPr>
          <p:cNvPr id="4" name="TextBox 3"/>
          <p:cNvSpPr txBox="1"/>
          <p:nvPr/>
        </p:nvSpPr>
        <p:spPr>
          <a:xfrm>
            <a:off x="1783080" y="621792"/>
            <a:ext cx="5029200" cy="731520"/>
          </a:xfrm>
          <a:prstGeom prst="rect">
            <a:avLst/>
          </a:prstGeom>
          <a:noFill/>
        </p:spPr>
        <p:txBody>
          <a:bodyPr wrap="none">
            <a:spAutoFit/>
          </a:bodyPr>
          <a:lstStyle/>
          <a:p>
            <a:pPr>
              <a:defRPr sz="2000" b="1">
                <a:latin typeface="Arial"/>
              </a:defRPr>
            </a:pPr>
            <a:r>
              <a:t>IILM UNIVERSITY, GREATER NOIDA</a:t>
            </a:r>
          </a:p>
        </p:txBody>
      </p:sp>
      <p:sp>
        <p:nvSpPr>
          <p:cNvPr id="5" name="Rectangle 4"/>
          <p:cNvSpPr/>
          <p:nvPr/>
        </p:nvSpPr>
        <p:spPr>
          <a:xfrm>
            <a:off x="594360" y="1783080"/>
            <a:ext cx="10972800"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10789920" cy="1463040"/>
          </a:xfrm>
          <a:prstGeom prst="rect">
            <a:avLst/>
          </a:prstGeom>
          <a:noFill/>
        </p:spPr>
        <p:txBody>
          <a:bodyPr wrap="none">
            <a:spAutoFit/>
          </a:bodyPr>
          <a:lstStyle/>
          <a:p>
            <a:pPr algn="ctr">
              <a:defRPr sz="3400" b="1">
                <a:latin typeface="Arial"/>
              </a:defRPr>
            </a:pPr>
            <a:r>
              <a:t>SQL AND DATABASE MANAGEMENT SYSTEMS</a:t>
            </a:r>
          </a:p>
          <a:p>
            <a:pPr algn="ctr">
              <a:defRPr sz="2200">
                <a:latin typeface="Arial"/>
              </a:defRPr>
            </a:pPr>
            <a:r>
              <a:t>VIRTUAL INTERNSHIP PRESENTATION</a:t>
            </a:r>
          </a:p>
        </p:txBody>
      </p:sp>
      <p:sp>
        <p:nvSpPr>
          <p:cNvPr id="7" name="TextBox 6"/>
          <p:cNvSpPr txBox="1"/>
          <p:nvPr/>
        </p:nvSpPr>
        <p:spPr>
          <a:xfrm>
            <a:off x="2743200" y="4069080"/>
            <a:ext cx="6675120" cy="1645920"/>
          </a:xfrm>
          <a:prstGeom prst="rect">
            <a:avLst/>
          </a:prstGeom>
          <a:noFill/>
        </p:spPr>
        <p:txBody>
          <a:bodyPr wrap="square">
            <a:spAutoFit/>
          </a:bodyPr>
          <a:lstStyle/>
          <a:p>
            <a:pPr>
              <a:spcAft>
                <a:spcPts val="1200"/>
              </a:spcAft>
              <a:defRPr sz="1600">
                <a:solidFill>
                  <a:srgbClr val="000000"/>
                </a:solidFill>
                <a:latin typeface="Arial"/>
              </a:defRPr>
            </a:pPr>
            <a:r>
              <a:t>Submitted by: Sachin Raj</a:t>
            </a:r>
          </a:p>
          <a:p>
            <a:pPr>
              <a:spcAft>
                <a:spcPts val="1200"/>
              </a:spcAft>
              <a:defRPr sz="1600">
                <a:solidFill>
                  <a:srgbClr val="000000"/>
                </a:solidFill>
                <a:latin typeface="Arial"/>
              </a:defRPr>
            </a:pPr>
            <a:r>
              <a:t>Class: 3CSE21  |  Roll No.: 2410030656</a:t>
            </a:r>
          </a:p>
          <a:p>
            <a:pPr>
              <a:spcAft>
                <a:spcPts val="1200"/>
              </a:spcAft>
              <a:defRPr sz="1600">
                <a:solidFill>
                  <a:srgbClr val="000000"/>
                </a:solidFill>
                <a:latin typeface="Arial"/>
              </a:defRPr>
            </a:pPr>
            <a:r>
              <a:t>Internship Provider: EduSkills Academy</a:t>
            </a:r>
          </a:p>
          <a:p>
            <a:pPr>
              <a:spcAft>
                <a:spcPts val="1200"/>
              </a:spcAft>
              <a:defRPr sz="1600">
                <a:solidFill>
                  <a:srgbClr val="000000"/>
                </a:solidFill>
                <a:latin typeface="Arial"/>
              </a:defRPr>
            </a:pPr>
            <a:r>
              <a:t>Duration: April – June 2026  |  8 Weeks</a:t>
            </a:r>
          </a:p>
        </p:txBody>
      </p:sp>
      <p:sp>
        <p:nvSpPr>
          <p:cNvPr id="8" name="Rectangle 7"/>
          <p:cNvSpPr/>
          <p:nvPr/>
        </p:nvSpPr>
        <p:spPr>
          <a:xfrm>
            <a:off x="502920" y="411480"/>
            <a:ext cx="128016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50e0a1f-e398-4464-bc05-f278575e506b.png"/>
          <p:cNvPicPr>
            <a:picLocks noChangeAspect="1"/>
          </p:cNvPicPr>
          <p:nvPr/>
        </p:nvPicPr>
        <p:blipFill>
          <a:blip r:embed="rId2"/>
          <a:stretch>
            <a:fillRect/>
          </a:stretch>
        </p:blipFill>
        <p:spPr>
          <a:xfrm>
            <a:off x="621792" y="475488"/>
            <a:ext cx="1051560" cy="101869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Internship Overview</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TextBox 4"/>
          <p:cNvSpPr txBox="1"/>
          <p:nvPr/>
        </p:nvSpPr>
        <p:spPr>
          <a:xfrm>
            <a:off x="822960" y="1645920"/>
            <a:ext cx="10515600" cy="4389120"/>
          </a:xfrm>
          <a:prstGeom prst="rect">
            <a:avLst/>
          </a:prstGeom>
          <a:noFill/>
        </p:spPr>
        <p:txBody>
          <a:bodyPr wrap="square">
            <a:spAutoFit/>
          </a:bodyPr>
          <a:lstStyle/>
          <a:p>
            <a:pPr>
              <a:spcAft>
                <a:spcPts val="1200"/>
              </a:spcAft>
              <a:defRPr sz="1900">
                <a:solidFill>
                  <a:srgbClr val="000000"/>
                </a:solidFill>
                <a:latin typeface="Arial"/>
              </a:defRPr>
            </a:pPr>
            <a:r>
              <a:t>Internship Title: SQL and Database Management Systems Virtual Internship (Hindi)</a:t>
            </a:r>
          </a:p>
          <a:p>
            <a:pPr>
              <a:spcAft>
                <a:spcPts val="1200"/>
              </a:spcAft>
              <a:defRPr sz="1900">
                <a:solidFill>
                  <a:srgbClr val="000000"/>
                </a:solidFill>
                <a:latin typeface="Arial"/>
              </a:defRPr>
            </a:pPr>
            <a:r>
              <a:t>Mode: Virtual Internship</a:t>
            </a:r>
          </a:p>
          <a:p>
            <a:pPr>
              <a:spcAft>
                <a:spcPts val="1200"/>
              </a:spcAft>
              <a:defRPr sz="1900">
                <a:solidFill>
                  <a:srgbClr val="000000"/>
                </a:solidFill>
                <a:latin typeface="Arial"/>
              </a:defRPr>
            </a:pPr>
            <a:r>
              <a:t>Duration: 8 weeks</a:t>
            </a:r>
          </a:p>
          <a:p>
            <a:pPr>
              <a:spcAft>
                <a:spcPts val="1200"/>
              </a:spcAft>
              <a:defRPr sz="1900">
                <a:solidFill>
                  <a:srgbClr val="000000"/>
                </a:solidFill>
                <a:latin typeface="Arial"/>
              </a:defRPr>
            </a:pPr>
            <a:r>
              <a:t>Internship Period: April – June 2026</a:t>
            </a:r>
          </a:p>
          <a:p>
            <a:pPr>
              <a:spcAft>
                <a:spcPts val="1200"/>
              </a:spcAft>
              <a:defRPr sz="1900">
                <a:solidFill>
                  <a:srgbClr val="000000"/>
                </a:solidFill>
                <a:latin typeface="Arial"/>
              </a:defRPr>
            </a:pPr>
            <a:r>
              <a:t>Supported by: EduSkills Academy</a:t>
            </a:r>
          </a:p>
          <a:p>
            <a:pPr>
              <a:spcAft>
                <a:spcPts val="1200"/>
              </a:spcAft>
              <a:defRPr sz="1900">
                <a:solidFill>
                  <a:srgbClr val="000000"/>
                </a:solidFill>
                <a:latin typeface="Arial"/>
              </a:defRPr>
            </a:pPr>
            <a:r>
              <a:t>Academic Institution: IILM University, Greater Noida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Abstract</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TextBox 4"/>
          <p:cNvSpPr txBox="1"/>
          <p:nvPr/>
        </p:nvSpPr>
        <p:spPr>
          <a:xfrm>
            <a:off x="822960" y="1645920"/>
            <a:ext cx="10515600" cy="4389120"/>
          </a:xfrm>
          <a:prstGeom prst="rect">
            <a:avLst/>
          </a:prstGeom>
          <a:noFill/>
        </p:spPr>
        <p:txBody>
          <a:bodyPr wrap="square">
            <a:spAutoFit/>
          </a:bodyPr>
          <a:lstStyle/>
          <a:p>
            <a:pPr>
              <a:spcAft>
                <a:spcPts val="1200"/>
              </a:spcAft>
              <a:defRPr sz="1900">
                <a:solidFill>
                  <a:srgbClr val="000000"/>
                </a:solidFill>
                <a:latin typeface="Arial"/>
              </a:defRPr>
            </a:pPr>
            <a:r>
              <a:t>The virtual internship provided structured exposure to the domain of SQL and Database Management Systems.</a:t>
            </a:r>
          </a:p>
          <a:p>
            <a:pPr>
              <a:spcAft>
                <a:spcPts val="1200"/>
              </a:spcAft>
              <a:defRPr sz="1900">
                <a:solidFill>
                  <a:srgbClr val="000000"/>
                </a:solidFill>
                <a:latin typeface="Arial"/>
              </a:defRPr>
            </a:pPr>
            <a:r>
              <a:t>The learning focus was centered on understanding how structured data is organized, managed, and queried through database systems.</a:t>
            </a:r>
          </a:p>
          <a:p>
            <a:pPr>
              <a:spcAft>
                <a:spcPts val="1200"/>
              </a:spcAft>
              <a:defRPr sz="1900">
                <a:solidFill>
                  <a:srgbClr val="000000"/>
                </a:solidFill>
                <a:latin typeface="Arial"/>
              </a:defRPr>
            </a:pPr>
            <a:r>
              <a:t>The internship strengthened academic familiarity with core database concepts and the role of SQL in working with relational data.</a:t>
            </a:r>
          </a:p>
          <a:p>
            <a:pPr>
              <a:spcAft>
                <a:spcPts val="1200"/>
              </a:spcAft>
              <a:defRPr sz="1900">
                <a:solidFill>
                  <a:srgbClr val="000000"/>
                </a:solidFill>
                <a:latin typeface="Arial"/>
              </a:defRPr>
            </a:pPr>
            <a:r>
              <a:t>This experience supports further learning in data management, software development, and database-oriented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Learning Focus</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TextBox 4"/>
          <p:cNvSpPr txBox="1"/>
          <p:nvPr/>
        </p:nvSpPr>
        <p:spPr>
          <a:xfrm>
            <a:off x="822960" y="1645920"/>
            <a:ext cx="10515600" cy="4389120"/>
          </a:xfrm>
          <a:prstGeom prst="rect">
            <a:avLst/>
          </a:prstGeom>
          <a:noFill/>
        </p:spPr>
        <p:txBody>
          <a:bodyPr wrap="square">
            <a:spAutoFit/>
          </a:bodyPr>
          <a:lstStyle/>
          <a:p>
            <a:pPr>
              <a:spcAft>
                <a:spcPts val="1200"/>
              </a:spcAft>
              <a:defRPr sz="2000">
                <a:solidFill>
                  <a:srgbClr val="000000"/>
                </a:solidFill>
                <a:latin typeface="Arial"/>
              </a:defRPr>
            </a:pPr>
            <a:r>
              <a:t>Fundamental understanding of database management systems</a:t>
            </a:r>
          </a:p>
          <a:p>
            <a:pPr>
              <a:spcAft>
                <a:spcPts val="1200"/>
              </a:spcAft>
              <a:defRPr sz="2000">
                <a:solidFill>
                  <a:srgbClr val="000000"/>
                </a:solidFill>
                <a:latin typeface="Arial"/>
              </a:defRPr>
            </a:pPr>
            <a:r>
              <a:t>Introduction to structured and relational data</a:t>
            </a:r>
          </a:p>
          <a:p>
            <a:pPr>
              <a:spcAft>
                <a:spcPts val="1200"/>
              </a:spcAft>
              <a:defRPr sz="2000">
                <a:solidFill>
                  <a:srgbClr val="000000"/>
                </a:solidFill>
                <a:latin typeface="Arial"/>
              </a:defRPr>
            </a:pPr>
            <a:r>
              <a:t>Role of SQL in querying and managing data</a:t>
            </a:r>
          </a:p>
          <a:p>
            <a:pPr>
              <a:spcAft>
                <a:spcPts val="1200"/>
              </a:spcAft>
              <a:defRPr sz="2000">
                <a:solidFill>
                  <a:srgbClr val="000000"/>
                </a:solidFill>
                <a:latin typeface="Arial"/>
              </a:defRPr>
            </a:pPr>
            <a:r>
              <a:t>Conceptual understanding of database operations</a:t>
            </a:r>
          </a:p>
          <a:p>
            <a:pPr>
              <a:spcAft>
                <a:spcPts val="1200"/>
              </a:spcAft>
              <a:defRPr sz="2000">
                <a:solidFill>
                  <a:srgbClr val="000000"/>
                </a:solidFill>
                <a:latin typeface="Arial"/>
              </a:defRPr>
            </a:pPr>
            <a:r>
              <a:t>Importance of organized data storage and retrieval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SQL and Database Management Systems</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Rounded Rectangle 4"/>
          <p:cNvSpPr/>
          <p:nvPr/>
        </p:nvSpPr>
        <p:spPr>
          <a:xfrm>
            <a:off x="822960" y="2560320"/>
            <a:ext cx="1920240" cy="960120"/>
          </a:xfrm>
          <a:prstGeom prst="round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latin typeface="Arial"/>
              </a:defRPr>
            </a:pPr>
            <a:r>
              <a:t>DATA</a:t>
            </a:r>
          </a:p>
        </p:txBody>
      </p:sp>
      <p:sp>
        <p:nvSpPr>
          <p:cNvPr id="6" name="Chevron 5"/>
          <p:cNvSpPr/>
          <p:nvPr/>
        </p:nvSpPr>
        <p:spPr>
          <a:xfrm>
            <a:off x="2816352" y="2816352"/>
            <a:ext cx="411480" cy="411480"/>
          </a:xfrm>
          <a:prstGeom prst="chevron">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46120" y="2560320"/>
            <a:ext cx="1920240" cy="960120"/>
          </a:xfrm>
          <a:prstGeom prst="round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latin typeface="Arial"/>
              </a:defRPr>
            </a:pPr>
            <a:r>
              <a:t>DATABASE</a:t>
            </a:r>
          </a:p>
        </p:txBody>
      </p:sp>
      <p:sp>
        <p:nvSpPr>
          <p:cNvPr id="8" name="Chevron 7"/>
          <p:cNvSpPr/>
          <p:nvPr/>
        </p:nvSpPr>
        <p:spPr>
          <a:xfrm>
            <a:off x="5239512" y="2816352"/>
            <a:ext cx="411480" cy="411480"/>
          </a:xfrm>
          <a:prstGeom prst="chevron">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89320" y="2560320"/>
            <a:ext cx="1920240" cy="960120"/>
          </a:xfrm>
          <a:prstGeom prst="round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latin typeface="Arial"/>
              </a:defRPr>
            </a:pPr>
            <a:r>
              <a:t>SQL QUERIES</a:t>
            </a:r>
          </a:p>
        </p:txBody>
      </p:sp>
      <p:sp>
        <p:nvSpPr>
          <p:cNvPr id="10" name="Chevron 9"/>
          <p:cNvSpPr/>
          <p:nvPr/>
        </p:nvSpPr>
        <p:spPr>
          <a:xfrm>
            <a:off x="7982712" y="2816352"/>
            <a:ext cx="411480" cy="411480"/>
          </a:xfrm>
          <a:prstGeom prst="chevron">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732520" y="2560320"/>
            <a:ext cx="1920240" cy="960120"/>
          </a:xfrm>
          <a:prstGeom prst="round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latin typeface="Arial"/>
              </a:defRPr>
            </a:pPr>
            <a:r>
              <a:t>RESULTS</a:t>
            </a:r>
          </a:p>
        </p:txBody>
      </p:sp>
      <p:sp>
        <p:nvSpPr>
          <p:cNvPr id="12" name="TextBox 11"/>
          <p:cNvSpPr txBox="1"/>
          <p:nvPr/>
        </p:nvSpPr>
        <p:spPr>
          <a:xfrm>
            <a:off x="1143000" y="3977639"/>
            <a:ext cx="9875520" cy="1097280"/>
          </a:xfrm>
          <a:prstGeom prst="rect">
            <a:avLst/>
          </a:prstGeom>
          <a:noFill/>
        </p:spPr>
        <p:txBody>
          <a:bodyPr wrap="none">
            <a:spAutoFit/>
          </a:bodyPr>
          <a:lstStyle/>
          <a:p>
            <a:pPr algn="ctr">
              <a:defRPr sz="1900">
                <a:latin typeface="Arial"/>
              </a:defRPr>
            </a:pPr>
            <a:r>
              <a:t>Conceptual flow: structured data is stored in databases, SQL is used to interact with the data, and queries produce meaningful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Key Skills Developed</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TextBox 4"/>
          <p:cNvSpPr txBox="1"/>
          <p:nvPr/>
        </p:nvSpPr>
        <p:spPr>
          <a:xfrm>
            <a:off x="822960" y="1645920"/>
            <a:ext cx="10515600" cy="4389120"/>
          </a:xfrm>
          <a:prstGeom prst="rect">
            <a:avLst/>
          </a:prstGeom>
          <a:noFill/>
        </p:spPr>
        <p:txBody>
          <a:bodyPr wrap="square">
            <a:spAutoFit/>
          </a:bodyPr>
          <a:lstStyle/>
          <a:p>
            <a:pPr>
              <a:spcAft>
                <a:spcPts val="1200"/>
              </a:spcAft>
              <a:defRPr sz="2100">
                <a:solidFill>
                  <a:srgbClr val="000000"/>
                </a:solidFill>
                <a:latin typeface="Arial"/>
              </a:defRPr>
            </a:pPr>
            <a:r>
              <a:t>Database concepts and terminology</a:t>
            </a:r>
          </a:p>
          <a:p>
            <a:pPr>
              <a:spcAft>
                <a:spcPts val="1200"/>
              </a:spcAft>
              <a:defRPr sz="2100">
                <a:solidFill>
                  <a:srgbClr val="000000"/>
                </a:solidFill>
                <a:latin typeface="Arial"/>
              </a:defRPr>
            </a:pPr>
            <a:r>
              <a:t>Structured data understanding</a:t>
            </a:r>
          </a:p>
          <a:p>
            <a:pPr>
              <a:spcAft>
                <a:spcPts val="1200"/>
              </a:spcAft>
              <a:defRPr sz="2100">
                <a:solidFill>
                  <a:srgbClr val="000000"/>
                </a:solidFill>
                <a:latin typeface="Arial"/>
              </a:defRPr>
            </a:pPr>
            <a:r>
              <a:t>SQL-oriented thinking</a:t>
            </a:r>
          </a:p>
          <a:p>
            <a:pPr>
              <a:spcAft>
                <a:spcPts val="1200"/>
              </a:spcAft>
              <a:defRPr sz="2100">
                <a:solidFill>
                  <a:srgbClr val="000000"/>
                </a:solidFill>
                <a:latin typeface="Arial"/>
              </a:defRPr>
            </a:pPr>
            <a:r>
              <a:t>Data organization and retrieval concepts</a:t>
            </a:r>
          </a:p>
          <a:p>
            <a:pPr>
              <a:spcAft>
                <a:spcPts val="1200"/>
              </a:spcAft>
              <a:defRPr sz="2100">
                <a:solidFill>
                  <a:srgbClr val="000000"/>
                </a:solidFill>
                <a:latin typeface="Arial"/>
              </a:defRPr>
            </a:pPr>
            <a:r>
              <a:t>Analytical approach to working with stored information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Internship Outcome</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TextBox 4"/>
          <p:cNvSpPr txBox="1"/>
          <p:nvPr/>
        </p:nvSpPr>
        <p:spPr>
          <a:xfrm>
            <a:off x="822960" y="1645920"/>
            <a:ext cx="10515600" cy="4389120"/>
          </a:xfrm>
          <a:prstGeom prst="rect">
            <a:avLst/>
          </a:prstGeom>
          <a:noFill/>
        </p:spPr>
        <p:txBody>
          <a:bodyPr wrap="square">
            <a:spAutoFit/>
          </a:bodyPr>
          <a:lstStyle/>
          <a:p>
            <a:pPr>
              <a:spcAft>
                <a:spcPts val="1200"/>
              </a:spcAft>
              <a:defRPr sz="2000">
                <a:solidFill>
                  <a:srgbClr val="000000"/>
                </a:solidFill>
                <a:latin typeface="Arial"/>
              </a:defRPr>
            </a:pPr>
            <a:r>
              <a:t>Completed the 8-week virtual internship during April – June 2026.</a:t>
            </a:r>
          </a:p>
          <a:p>
            <a:pPr>
              <a:spcAft>
                <a:spcPts val="1200"/>
              </a:spcAft>
              <a:defRPr sz="2000">
                <a:solidFill>
                  <a:srgbClr val="000000"/>
                </a:solidFill>
                <a:latin typeface="Arial"/>
              </a:defRPr>
            </a:pPr>
            <a:r>
              <a:t>Gained academic exposure to the SQL and Database Management Systems domain.</a:t>
            </a:r>
          </a:p>
          <a:p>
            <a:pPr>
              <a:spcAft>
                <a:spcPts val="1200"/>
              </a:spcAft>
              <a:defRPr sz="2000">
                <a:solidFill>
                  <a:srgbClr val="000000"/>
                </a:solidFill>
                <a:latin typeface="Arial"/>
              </a:defRPr>
            </a:pPr>
            <a:r>
              <a:t>Developed a stronger foundation for continued learning in databases and data-driven software systems.</a:t>
            </a:r>
          </a:p>
          <a:p>
            <a:pPr>
              <a:spcAft>
                <a:spcPts val="1200"/>
              </a:spcAft>
              <a:defRPr sz="2000">
                <a:solidFill>
                  <a:srgbClr val="000000"/>
                </a:solidFill>
                <a:latin typeface="Arial"/>
              </a:defRPr>
            </a:pPr>
            <a:r>
              <a:t>Received a Certificate of Virtual Internship for successful completion.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Certification Summary</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Rectangle 4"/>
          <p:cNvSpPr/>
          <p:nvPr/>
        </p:nvSpPr>
        <p:spPr>
          <a:xfrm>
            <a:off x="1005840" y="1645920"/>
            <a:ext cx="10149840" cy="3566160"/>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1874519"/>
            <a:ext cx="1828800" cy="411480"/>
          </a:xfrm>
          <a:prstGeom prst="rect">
            <a:avLst/>
          </a:prstGeom>
          <a:noFill/>
        </p:spPr>
        <p:txBody>
          <a:bodyPr wrap="none">
            <a:spAutoFit/>
          </a:bodyPr>
          <a:lstStyle/>
          <a:p>
            <a:pPr>
              <a:defRPr sz="1600" b="1">
                <a:latin typeface="Arial"/>
              </a:defRPr>
            </a:pPr>
            <a:r>
              <a:t>Student</a:t>
            </a:r>
          </a:p>
        </p:txBody>
      </p:sp>
      <p:sp>
        <p:nvSpPr>
          <p:cNvPr id="7" name="TextBox 6"/>
          <p:cNvSpPr txBox="1"/>
          <p:nvPr/>
        </p:nvSpPr>
        <p:spPr>
          <a:xfrm>
            <a:off x="3474720" y="1874519"/>
            <a:ext cx="7040880" cy="502920"/>
          </a:xfrm>
          <a:prstGeom prst="rect">
            <a:avLst/>
          </a:prstGeom>
          <a:noFill/>
        </p:spPr>
        <p:txBody>
          <a:bodyPr wrap="none">
            <a:spAutoFit/>
          </a:bodyPr>
          <a:lstStyle/>
          <a:p>
            <a:pPr>
              <a:defRPr sz="1600">
                <a:latin typeface="Arial"/>
              </a:defRPr>
            </a:pPr>
            <a:r>
              <a:t>Sachin Raj</a:t>
            </a:r>
          </a:p>
        </p:txBody>
      </p:sp>
      <p:sp>
        <p:nvSpPr>
          <p:cNvPr id="8" name="TextBox 7"/>
          <p:cNvSpPr txBox="1"/>
          <p:nvPr/>
        </p:nvSpPr>
        <p:spPr>
          <a:xfrm>
            <a:off x="1417320" y="2468879"/>
            <a:ext cx="1828800" cy="411480"/>
          </a:xfrm>
          <a:prstGeom prst="rect">
            <a:avLst/>
          </a:prstGeom>
          <a:noFill/>
        </p:spPr>
        <p:txBody>
          <a:bodyPr wrap="none">
            <a:spAutoFit/>
          </a:bodyPr>
          <a:lstStyle/>
          <a:p>
            <a:pPr>
              <a:defRPr sz="1600" b="1">
                <a:latin typeface="Arial"/>
              </a:defRPr>
            </a:pPr>
            <a:r>
              <a:t>Program</a:t>
            </a:r>
          </a:p>
        </p:txBody>
      </p:sp>
      <p:sp>
        <p:nvSpPr>
          <p:cNvPr id="9" name="TextBox 8"/>
          <p:cNvSpPr txBox="1"/>
          <p:nvPr/>
        </p:nvSpPr>
        <p:spPr>
          <a:xfrm>
            <a:off x="3474720" y="2468879"/>
            <a:ext cx="7040880" cy="502920"/>
          </a:xfrm>
          <a:prstGeom prst="rect">
            <a:avLst/>
          </a:prstGeom>
          <a:noFill/>
        </p:spPr>
        <p:txBody>
          <a:bodyPr wrap="none">
            <a:spAutoFit/>
          </a:bodyPr>
          <a:lstStyle/>
          <a:p>
            <a:pPr>
              <a:defRPr sz="1600">
                <a:latin typeface="Arial"/>
              </a:defRPr>
            </a:pPr>
            <a:r>
              <a:t>SQL and Database Management Systems Virtual Internship (Hindi)</a:t>
            </a:r>
          </a:p>
        </p:txBody>
      </p:sp>
      <p:sp>
        <p:nvSpPr>
          <p:cNvPr id="10" name="TextBox 9"/>
          <p:cNvSpPr txBox="1"/>
          <p:nvPr/>
        </p:nvSpPr>
        <p:spPr>
          <a:xfrm>
            <a:off x="1417320" y="3063239"/>
            <a:ext cx="1828800" cy="411480"/>
          </a:xfrm>
          <a:prstGeom prst="rect">
            <a:avLst/>
          </a:prstGeom>
          <a:noFill/>
        </p:spPr>
        <p:txBody>
          <a:bodyPr wrap="none">
            <a:spAutoFit/>
          </a:bodyPr>
          <a:lstStyle/>
          <a:p>
            <a:pPr>
              <a:defRPr sz="1600" b="1">
                <a:latin typeface="Arial"/>
              </a:defRPr>
            </a:pPr>
            <a:r>
              <a:t>Duration</a:t>
            </a:r>
          </a:p>
        </p:txBody>
      </p:sp>
      <p:sp>
        <p:nvSpPr>
          <p:cNvPr id="11" name="TextBox 10"/>
          <p:cNvSpPr txBox="1"/>
          <p:nvPr/>
        </p:nvSpPr>
        <p:spPr>
          <a:xfrm>
            <a:off x="3474720" y="3063239"/>
            <a:ext cx="7040880" cy="502920"/>
          </a:xfrm>
          <a:prstGeom prst="rect">
            <a:avLst/>
          </a:prstGeom>
          <a:noFill/>
        </p:spPr>
        <p:txBody>
          <a:bodyPr wrap="none">
            <a:spAutoFit/>
          </a:bodyPr>
          <a:lstStyle/>
          <a:p>
            <a:pPr>
              <a:defRPr sz="1600">
                <a:latin typeface="Arial"/>
              </a:defRPr>
            </a:pPr>
            <a:r>
              <a:t>8 Weeks</a:t>
            </a:r>
          </a:p>
        </p:txBody>
      </p:sp>
      <p:sp>
        <p:nvSpPr>
          <p:cNvPr id="12" name="TextBox 11"/>
          <p:cNvSpPr txBox="1"/>
          <p:nvPr/>
        </p:nvSpPr>
        <p:spPr>
          <a:xfrm>
            <a:off x="1417320" y="3657599"/>
            <a:ext cx="1828800" cy="411480"/>
          </a:xfrm>
          <a:prstGeom prst="rect">
            <a:avLst/>
          </a:prstGeom>
          <a:noFill/>
        </p:spPr>
        <p:txBody>
          <a:bodyPr wrap="none">
            <a:spAutoFit/>
          </a:bodyPr>
          <a:lstStyle/>
          <a:p>
            <a:pPr>
              <a:defRPr sz="1600" b="1">
                <a:latin typeface="Arial"/>
              </a:defRPr>
            </a:pPr>
            <a:r>
              <a:t>Period</a:t>
            </a:r>
          </a:p>
        </p:txBody>
      </p:sp>
      <p:sp>
        <p:nvSpPr>
          <p:cNvPr id="13" name="TextBox 12"/>
          <p:cNvSpPr txBox="1"/>
          <p:nvPr/>
        </p:nvSpPr>
        <p:spPr>
          <a:xfrm>
            <a:off x="3474720" y="3657599"/>
            <a:ext cx="7040880" cy="502920"/>
          </a:xfrm>
          <a:prstGeom prst="rect">
            <a:avLst/>
          </a:prstGeom>
          <a:noFill/>
        </p:spPr>
        <p:txBody>
          <a:bodyPr wrap="none">
            <a:spAutoFit/>
          </a:bodyPr>
          <a:lstStyle/>
          <a:p>
            <a:pPr>
              <a:defRPr sz="1600">
                <a:latin typeface="Arial"/>
              </a:defRPr>
            </a:pPr>
            <a:r>
              <a:t>April – June 2026</a:t>
            </a:r>
          </a:p>
        </p:txBody>
      </p:sp>
      <p:sp>
        <p:nvSpPr>
          <p:cNvPr id="14" name="TextBox 13"/>
          <p:cNvSpPr txBox="1"/>
          <p:nvPr/>
        </p:nvSpPr>
        <p:spPr>
          <a:xfrm>
            <a:off x="1417320" y="4251959"/>
            <a:ext cx="1828800" cy="411480"/>
          </a:xfrm>
          <a:prstGeom prst="rect">
            <a:avLst/>
          </a:prstGeom>
          <a:noFill/>
        </p:spPr>
        <p:txBody>
          <a:bodyPr wrap="none">
            <a:spAutoFit/>
          </a:bodyPr>
          <a:lstStyle/>
          <a:p>
            <a:pPr>
              <a:defRPr sz="1600" b="1">
                <a:latin typeface="Arial"/>
              </a:defRPr>
            </a:pPr>
            <a:r>
              <a:t>Support</a:t>
            </a:r>
          </a:p>
        </p:txBody>
      </p:sp>
      <p:sp>
        <p:nvSpPr>
          <p:cNvPr id="15" name="TextBox 14"/>
          <p:cNvSpPr txBox="1"/>
          <p:nvPr/>
        </p:nvSpPr>
        <p:spPr>
          <a:xfrm>
            <a:off x="3474720" y="4251959"/>
            <a:ext cx="7040880" cy="502920"/>
          </a:xfrm>
          <a:prstGeom prst="rect">
            <a:avLst/>
          </a:prstGeom>
          <a:noFill/>
        </p:spPr>
        <p:txBody>
          <a:bodyPr wrap="none">
            <a:spAutoFit/>
          </a:bodyPr>
          <a:lstStyle/>
          <a:p>
            <a:pPr>
              <a:defRPr sz="1600">
                <a:latin typeface="Arial"/>
              </a:defRPr>
            </a:pPr>
            <a:r>
              <a:t>EduSkills Academy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41148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48640"/>
            <a:ext cx="10972800" cy="640080"/>
          </a:xfrm>
          <a:prstGeom prst="rect">
            <a:avLst/>
          </a:prstGeom>
          <a:noFill/>
        </p:spPr>
        <p:txBody>
          <a:bodyPr wrap="none">
            <a:spAutoFit/>
          </a:bodyPr>
          <a:lstStyle/>
          <a:p>
            <a:pPr>
              <a:defRPr sz="2600" b="1">
                <a:solidFill>
                  <a:srgbClr val="000000"/>
                </a:solidFill>
                <a:latin typeface="Arial"/>
              </a:defRPr>
            </a:pPr>
            <a:r>
              <a:t>Student Declaration</a:t>
            </a:r>
          </a:p>
        </p:txBody>
      </p:sp>
      <p:sp>
        <p:nvSpPr>
          <p:cNvPr id="4" name="TextBox 3"/>
          <p:cNvSpPr txBox="1"/>
          <p:nvPr/>
        </p:nvSpPr>
        <p:spPr>
          <a:xfrm>
            <a:off x="594360" y="6446520"/>
            <a:ext cx="10972800" cy="228600"/>
          </a:xfrm>
          <a:prstGeom prst="rect">
            <a:avLst/>
          </a:prstGeom>
          <a:noFill/>
        </p:spPr>
        <p:txBody>
          <a:bodyPr wrap="none">
            <a:spAutoFit/>
          </a:bodyPr>
          <a:lstStyle/>
          <a:p>
            <a:pPr algn="r">
              <a:defRPr sz="800">
                <a:solidFill>
                  <a:srgbClr val="646464"/>
                </a:solidFill>
                <a:latin typeface="Arial"/>
              </a:defRPr>
            </a:pPr>
            <a:r>
              <a:t>IILM University, Greater Noida  |  SQL and Database Management Systems Virtual Internship</a:t>
            </a:r>
          </a:p>
        </p:txBody>
      </p:sp>
      <p:sp>
        <p:nvSpPr>
          <p:cNvPr id="5" name="TextBox 4"/>
          <p:cNvSpPr txBox="1"/>
          <p:nvPr/>
        </p:nvSpPr>
        <p:spPr>
          <a:xfrm>
            <a:off x="1097280" y="1828800"/>
            <a:ext cx="9966960" cy="2560320"/>
          </a:xfrm>
          <a:prstGeom prst="rect">
            <a:avLst/>
          </a:prstGeom>
          <a:noFill/>
        </p:spPr>
        <p:txBody>
          <a:bodyPr wrap="square">
            <a:spAutoFit/>
          </a:bodyPr>
          <a:lstStyle/>
          <a:p>
            <a:pPr algn="ctr">
              <a:defRPr sz="2200">
                <a:latin typeface="Arial"/>
              </a:defRPr>
            </a:pPr>
            <a:r>
              <a:t>I, Sachin Raj, hereby declare that the information presented in this internship presentation is true to the best of my knowledge and is based on my academic details and the internship certificate provided for the SQL and Database Management Systems Virtual Internship (Hindi).</a:t>
            </a:r>
          </a:p>
        </p:txBody>
      </p:sp>
      <p:sp>
        <p:nvSpPr>
          <p:cNvPr id="6" name="TextBox 5"/>
          <p:cNvSpPr txBox="1"/>
          <p:nvPr/>
        </p:nvSpPr>
        <p:spPr>
          <a:xfrm>
            <a:off x="7955279" y="4937760"/>
            <a:ext cx="2743200" cy="731520"/>
          </a:xfrm>
          <a:prstGeom prst="rect">
            <a:avLst/>
          </a:prstGeom>
          <a:noFill/>
        </p:spPr>
        <p:txBody>
          <a:bodyPr wrap="none">
            <a:spAutoFit/>
          </a:bodyPr>
          <a:lstStyle/>
          <a:p>
            <a:pPr algn="ctr">
              <a:defRPr sz="1600">
                <a:latin typeface="Arial"/>
              </a:defRPr>
            </a:pPr>
            <a:r>
              <a:t>Sachin Raj</a:t>
            </a:r>
            <a:br/>
            <a:r>
              <a:t>B.Tech CSE | 3CSE21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502920"/>
            <a:ext cx="11155680" cy="274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914400"/>
          </a:xfrm>
          <a:prstGeom prst="rect">
            <a:avLst/>
          </a:prstGeom>
          <a:noFill/>
        </p:spPr>
        <p:txBody>
          <a:bodyPr wrap="none">
            <a:spAutoFit/>
          </a:bodyPr>
          <a:lstStyle/>
          <a:p>
            <a:pPr algn="ctr">
              <a:defRPr sz="3800" b="1">
                <a:latin typeface="Arial"/>
              </a:defRPr>
            </a:pPr>
            <a:r>
              <a:t>THANK YOU</a:t>
            </a:r>
          </a:p>
        </p:txBody>
      </p:sp>
      <p:sp>
        <p:nvSpPr>
          <p:cNvPr id="4" name="TextBox 3"/>
          <p:cNvSpPr txBox="1"/>
          <p:nvPr/>
        </p:nvSpPr>
        <p:spPr>
          <a:xfrm>
            <a:off x="914400" y="3246120"/>
            <a:ext cx="10332720" cy="1097280"/>
          </a:xfrm>
          <a:prstGeom prst="rect">
            <a:avLst/>
          </a:prstGeom>
          <a:noFill/>
        </p:spPr>
        <p:txBody>
          <a:bodyPr wrap="none">
            <a:spAutoFit/>
          </a:bodyPr>
          <a:lstStyle/>
          <a:p>
            <a:pPr algn="ctr">
              <a:defRPr sz="1900">
                <a:latin typeface="Arial"/>
              </a:defRPr>
            </a:pPr>
            <a:r>
              <a:t>SQL and Database Management Systems Virtual Internship</a:t>
            </a:r>
            <a:br/>
            <a:r>
              <a:t>EduSkills Academy | IILM University, Greater Noida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chin_Raj_Internship_Certificate.png"/>
          <p:cNvPicPr>
            <a:picLocks noChangeAspect="1"/>
          </p:cNvPicPr>
          <p:nvPr/>
        </p:nvPicPr>
        <p:blipFill>
          <a:blip r:embed="rId2"/>
          <a:stretch>
            <a:fillRect/>
          </a:stretch>
        </p:blipFill>
        <p:spPr>
          <a:xfrm>
            <a:off x="566928" y="228600"/>
            <a:ext cx="11045952" cy="6400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